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6" r:id="rId13"/>
    <p:sldId id="265" r:id="rId14"/>
  </p:sldIdLst>
  <p:sldSz cx="14630400" cy="8229600"/>
  <p:notesSz cx="8229600" cy="14630400"/>
  <p:embeddedFontLst>
    <p:embeddedFont>
      <p:font typeface="Open Sans" pitchFamily="34" charset="0"/>
      <p:bold r:id="rId18"/>
    </p:embeddedFont>
    <p:embeddedFont>
      <p:font typeface="Open Sans" pitchFamily="34" charset="-122"/>
      <p:bold r:id="rId19"/>
    </p:embeddedFont>
    <p:embeddedFont>
      <p:font typeface="Open Sans" pitchFamily="34" charset="-120"/>
      <p:bold r:id="rId20"/>
    </p:embeddedFont>
    <p:embeddedFont>
      <p:font typeface="Arial Black" panose="020B0A04020102020204" charset="0"/>
      <p:bold r:id="rId21"/>
    </p:embeddedFont>
    <p:embeddedFont>
      <p:font typeface="Calibri" panose="020F0502020204030204" charset="0"/>
      <p:regular r:id="rId22"/>
      <p:bold r:id="rId23"/>
      <p:italic r:id="rId24"/>
      <p:boldItalic r:id="rId25"/>
    </p:embeddedFont>
    <p:embeddedFont>
      <p:font typeface="Calibri Light" panose="020F0302020204030204" charset="0"/>
      <p:regular r:id="rId26"/>
      <p:italic r:id="rId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3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font" Target="fonts/font10.fntdata"/><Relationship Id="rId26" Type="http://schemas.openxmlformats.org/officeDocument/2006/relationships/font" Target="fonts/font9.fntdata"/><Relationship Id="rId25" Type="http://schemas.openxmlformats.org/officeDocument/2006/relationships/font" Target="fonts/font8.fntdata"/><Relationship Id="rId24" Type="http://schemas.openxmlformats.org/officeDocument/2006/relationships/font" Target="fonts/font7.fntdata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1.xml"/><Relationship Id="rId8" Type="http://schemas.openxmlformats.org/officeDocument/2006/relationships/tags" Target="../tags/tag10.xml"/><Relationship Id="rId7" Type="http://schemas.openxmlformats.org/officeDocument/2006/relationships/tags" Target="../tags/tag9.xml"/><Relationship Id="rId6" Type="http://schemas.openxmlformats.org/officeDocument/2006/relationships/tags" Target="../tags/tag8.xml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3" Type="http://schemas.openxmlformats.org/officeDocument/2006/relationships/tags" Target="../tags/tag7.xml"/><Relationship Id="rId27" Type="http://schemas.openxmlformats.org/officeDocument/2006/relationships/notesSlide" Target="../notesSlides/notesSlide6.xml"/><Relationship Id="rId26" Type="http://schemas.openxmlformats.org/officeDocument/2006/relationships/slideLayout" Target="../slideLayouts/slideLayout7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image" Target="../media/image7.svg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6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image" Target="../media/image6.svg"/><Relationship Id="rId16" Type="http://schemas.openxmlformats.org/officeDocument/2006/relationships/tags" Target="../tags/tag17.xml"/><Relationship Id="rId15" Type="http://schemas.openxmlformats.org/officeDocument/2006/relationships/tags" Target="../tags/tag16.xml"/><Relationship Id="rId14" Type="http://schemas.openxmlformats.org/officeDocument/2006/relationships/tags" Target="../tags/tag15.xml"/><Relationship Id="rId13" Type="http://schemas.openxmlformats.org/officeDocument/2006/relationships/tags" Target="../tags/tag14.xml"/><Relationship Id="rId12" Type="http://schemas.openxmlformats.org/officeDocument/2006/relationships/tags" Target="../tags/tag13.xml"/><Relationship Id="rId11" Type="http://schemas.openxmlformats.org/officeDocument/2006/relationships/image" Target="../media/image5.svg"/><Relationship Id="rId10" Type="http://schemas.openxmlformats.org/officeDocument/2006/relationships/tags" Target="../tags/tag12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6" Type="http://schemas.openxmlformats.org/officeDocument/2006/relationships/notesSlide" Target="../notesSlides/notesSlide8.xml"/><Relationship Id="rId25" Type="http://schemas.openxmlformats.org/officeDocument/2006/relationships/slideLayout" Target="../slideLayouts/slideLayout9.xml"/><Relationship Id="rId24" Type="http://schemas.openxmlformats.org/officeDocument/2006/relationships/tags" Target="../tags/tag48.xml"/><Relationship Id="rId23" Type="http://schemas.openxmlformats.org/officeDocument/2006/relationships/tags" Target="../tags/tag47.xml"/><Relationship Id="rId22" Type="http://schemas.openxmlformats.org/officeDocument/2006/relationships/tags" Target="../tags/tag46.xml"/><Relationship Id="rId21" Type="http://schemas.openxmlformats.org/officeDocument/2006/relationships/tags" Target="../tags/tag45.xml"/><Relationship Id="rId20" Type="http://schemas.openxmlformats.org/officeDocument/2006/relationships/tags" Target="../tags/tag44.xml"/><Relationship Id="rId2" Type="http://schemas.openxmlformats.org/officeDocument/2006/relationships/tags" Target="../tags/tag26.xml"/><Relationship Id="rId19" Type="http://schemas.openxmlformats.org/officeDocument/2006/relationships/tags" Target="../tags/tag43.xml"/><Relationship Id="rId18" Type="http://schemas.openxmlformats.org/officeDocument/2006/relationships/tags" Target="../tags/tag42.xml"/><Relationship Id="rId17" Type="http://schemas.openxmlformats.org/officeDocument/2006/relationships/tags" Target="../tags/tag41.xml"/><Relationship Id="rId16" Type="http://schemas.openxmlformats.org/officeDocument/2006/relationships/tags" Target="../tags/tag40.xml"/><Relationship Id="rId15" Type="http://schemas.openxmlformats.org/officeDocument/2006/relationships/tags" Target="../tags/tag39.xml"/><Relationship Id="rId14" Type="http://schemas.openxmlformats.org/officeDocument/2006/relationships/tags" Target="../tags/tag38.xml"/><Relationship Id="rId13" Type="http://schemas.openxmlformats.org/officeDocument/2006/relationships/tags" Target="../tags/tag37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tags" Target="../tags/tag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54429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+mj-lt"/>
                <a:ea typeface="Playfair Display Bold" pitchFamily="34" charset="-122"/>
                <a:cs typeface="+mj-lt"/>
              </a:rPr>
              <a:t>Building a Gita-Based Personality Assessment Tool</a:t>
            </a:r>
            <a:endParaRPr lang="en-US" sz="4450" dirty="0">
              <a:latin typeface="+mj-lt"/>
              <a:cs typeface="+mj-lt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4812149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Applying NLP to Ancient Wisdom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96026"/>
            <a:ext cx="6524268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Arial Black" panose="020B0A04020102020204" charset="0"/>
                <a:ea typeface="Playfair Display Bold" pitchFamily="34" charset="-122"/>
                <a:cs typeface="Arial Black" panose="020B0A04020102020204" charset="0"/>
              </a:rPr>
              <a:t>Step 1: Project Objectives</a:t>
            </a:r>
            <a:endParaRPr lang="en-US" sz="4450" dirty="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295531"/>
            <a:ext cx="6257092" cy="566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01014"/>
                </a:solidFill>
                <a:latin typeface="+mj-lt"/>
                <a:ea typeface="Playfair Display Bold" pitchFamily="34" charset="-122"/>
                <a:cs typeface="+mj-lt"/>
              </a:rPr>
              <a:t>What problem are we solving?</a:t>
            </a:r>
            <a:endParaRPr lang="en-US" sz="3550" dirty="0">
              <a:latin typeface="+mj-lt"/>
              <a:cs typeface="+mj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4202668"/>
            <a:ext cx="13042821" cy="15309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SzPct val="100000"/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Many people are interested in applying the </a:t>
            </a: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wisdom of the Bhagavad Gita</a:t>
            </a: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their daily lives, but it can be difficult to know </a:t>
            </a: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which teachings resonate with them personally</a:t>
            </a: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750" dirty="0"/>
          </a:p>
          <a:p>
            <a:pPr marL="0" indent="0" algn="l">
              <a:lnSpc>
                <a:spcPts val="2850"/>
              </a:lnSpc>
              <a:buSzPct val="100000"/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Traditional personality quizzes or recommendation systems do not incorporate </a:t>
            </a: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philosophical/spiritual texts</a:t>
            </a: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effectively.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1"/>
            </p:custDataLst>
          </p:nvPr>
        </p:nvSpPr>
        <p:spPr>
          <a:xfrm>
            <a:off x="793790" y="3074313"/>
            <a:ext cx="3402330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01014"/>
                </a:solidFill>
                <a:latin typeface="Arial Black" panose="020B0A04020102020204" charset="0"/>
                <a:ea typeface="Playfair Display Bold" pitchFamily="34" charset="-122"/>
                <a:cs typeface="Arial Black" panose="020B0A04020102020204" charset="0"/>
              </a:rPr>
              <a:t>Problem</a:t>
            </a:r>
            <a:endParaRPr lang="en-US" sz="2650" b="1" dirty="0">
              <a:solidFill>
                <a:srgbClr val="101014"/>
              </a:solidFill>
              <a:latin typeface="Arial Black" panose="020B0A04020102020204" charset="0"/>
              <a:ea typeface="Playfair Display Bold" pitchFamily="34" charset="-122"/>
              <a:cs typeface="Arial Black" panose="020B0A04020102020204" charset="0"/>
            </a:endParaRPr>
          </a:p>
        </p:txBody>
      </p:sp>
      <p:sp>
        <p:nvSpPr>
          <p:cNvPr id="3" name="Text 1"/>
          <p:cNvSpPr/>
          <p:nvPr>
            <p:custDataLst>
              <p:tags r:id="rId2"/>
            </p:custDataLst>
          </p:nvPr>
        </p:nvSpPr>
        <p:spPr>
          <a:xfrm>
            <a:off x="793790" y="3726418"/>
            <a:ext cx="6244709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 can we analyze a person's free-text responses to understand their personality tendencies and recommend Gita verses that guide them in action, devotion, or knowledge?</a:t>
            </a:r>
            <a:endParaRPr lang="en-US" sz="1750" dirty="0"/>
          </a:p>
        </p:txBody>
      </p:sp>
      <p:sp>
        <p:nvSpPr>
          <p:cNvPr id="4" name="Text 2"/>
          <p:cNvSpPr/>
          <p:nvPr>
            <p:custDataLst>
              <p:tags r:id="rId3"/>
            </p:custDataLst>
          </p:nvPr>
        </p:nvSpPr>
        <p:spPr>
          <a:xfrm>
            <a:off x="7599521" y="3074313"/>
            <a:ext cx="3402330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01014"/>
                </a:solidFill>
                <a:latin typeface="Arial Black" panose="020B0A04020102020204" charset="0"/>
                <a:ea typeface="Playfair Display Bold" pitchFamily="34" charset="-122"/>
                <a:cs typeface="Arial Black" panose="020B0A04020102020204" charset="0"/>
              </a:rPr>
              <a:t>Solution</a:t>
            </a:r>
            <a:endParaRPr lang="en-US" sz="2650" b="1" dirty="0">
              <a:solidFill>
                <a:srgbClr val="101014"/>
              </a:solidFill>
              <a:latin typeface="Arial Black" panose="020B0A04020102020204" charset="0"/>
              <a:ea typeface="Playfair Display Bold" pitchFamily="34" charset="-122"/>
              <a:cs typeface="Arial Black" panose="020B0A04020102020204" charset="0"/>
            </a:endParaRPr>
          </a:p>
        </p:txBody>
      </p:sp>
      <p:sp>
        <p:nvSpPr>
          <p:cNvPr id="5" name="Text 3"/>
          <p:cNvSpPr/>
          <p:nvPr>
            <p:custDataLst>
              <p:tags r:id="rId4"/>
            </p:custDataLst>
          </p:nvPr>
        </p:nvSpPr>
        <p:spPr>
          <a:xfrm>
            <a:off x="7599521" y="3726418"/>
            <a:ext cx="6244709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a </a:t>
            </a: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personality assessment tool</a:t>
            </a: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using NLP that classifies users into </a:t>
            </a: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Karma, Bhakti, or Jnana Yoga tendencies</a:t>
            </a: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recommends relevant verses with explanations.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79796"/>
            <a:ext cx="5972056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ea typeface="Playfair Display Bold" pitchFamily="34" charset="-122"/>
                <a:cs typeface="+mn-lt"/>
              </a:rPr>
              <a:t>Who is the target user?</a:t>
            </a:r>
            <a:endParaRPr lang="en-US" sz="4450" dirty="0">
              <a:cs typeface="+mn-lt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3342203"/>
            <a:ext cx="6407944" cy="1240393"/>
          </a:xfrm>
          <a:prstGeom prst="roundRect">
            <a:avLst>
              <a:gd name="adj" fmla="val 2743"/>
            </a:avLst>
          </a:prstGeom>
          <a:solidFill>
            <a:srgbClr val="F3F3F7"/>
          </a:solidFill>
          <a:ln w="30480">
            <a:solidFill>
              <a:srgbClr val="C6C6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084" y="3599497"/>
            <a:ext cx="5893356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Individuals interested in self-development, spirituality, and philosophical guidance.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428548" y="3342203"/>
            <a:ext cx="6408063" cy="1240393"/>
          </a:xfrm>
          <a:prstGeom prst="roundRect">
            <a:avLst>
              <a:gd name="adj" fmla="val 2743"/>
            </a:avLst>
          </a:prstGeom>
          <a:solidFill>
            <a:srgbClr val="F3F3F7"/>
          </a:solidFill>
          <a:ln w="30480">
            <a:solidFill>
              <a:srgbClr val="C6C6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5842" y="3599497"/>
            <a:ext cx="589347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Students, researchers, or enthusiasts of Bhagavad Gita teachings.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93790" y="4809411"/>
            <a:ext cx="6407944" cy="1240393"/>
          </a:xfrm>
          <a:prstGeom prst="roundRect">
            <a:avLst>
              <a:gd name="adj" fmla="val 2743"/>
            </a:avLst>
          </a:prstGeom>
          <a:solidFill>
            <a:srgbClr val="F3F3F7"/>
          </a:solidFill>
          <a:ln w="30480">
            <a:solidFill>
              <a:srgbClr val="C6C6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084" y="5066705"/>
            <a:ext cx="5893356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People who want a personalized spiritual reflection tool, rather than reading the text randomly.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4809411"/>
            <a:ext cx="6408063" cy="1240393"/>
          </a:xfrm>
          <a:prstGeom prst="roundRect">
            <a:avLst>
              <a:gd name="adj" fmla="val 2743"/>
            </a:avLst>
          </a:prstGeom>
          <a:solidFill>
            <a:srgbClr val="F3F3F7"/>
          </a:solidFill>
          <a:ln w="30480">
            <a:solidFill>
              <a:srgbClr val="C6C6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5842" y="5066705"/>
            <a:ext cx="589347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Users who enjoy interactive quizzes and want actionable insights from ancient wisdom.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5038"/>
            <a:ext cx="9088636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ea typeface="Playfair Display Bold" pitchFamily="34" charset="-122"/>
                <a:cs typeface="+mn-lt"/>
              </a:rPr>
              <a:t>What NLP techniques will be used?</a:t>
            </a:r>
            <a:endParaRPr lang="en-US" sz="4450" dirty="0">
              <a:cs typeface="+mn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417445"/>
            <a:ext cx="226814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772489"/>
            <a:ext cx="6407944" cy="30480"/>
          </a:xfrm>
          <a:prstGeom prst="rect">
            <a:avLst/>
          </a:prstGeom>
          <a:solidFill>
            <a:srgbClr val="101014"/>
          </a:solidFill>
        </p:spPr>
      </p:sp>
      <p:sp>
        <p:nvSpPr>
          <p:cNvPr id="5" name="Text 3"/>
          <p:cNvSpPr/>
          <p:nvPr/>
        </p:nvSpPr>
        <p:spPr>
          <a:xfrm>
            <a:off x="793790" y="2946797"/>
            <a:ext cx="2835712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ea typeface="Playfair Display Bold" pitchFamily="34" charset="-122"/>
                <a:cs typeface="+mn-lt"/>
              </a:rPr>
              <a:t>Sentence embeddings</a:t>
            </a:r>
            <a:endParaRPr lang="en-US" sz="2200" dirty="0">
              <a:cs typeface="+mn-lt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3437215"/>
            <a:ext cx="6407944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Represent user responses and verse meanings in vector form (semantic space).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299109"/>
            <a:ext cx="6407944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Tool:</a:t>
            </a: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sentence-transformers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428548" y="2417445"/>
            <a:ext cx="226814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02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2772489"/>
            <a:ext cx="6408063" cy="30480"/>
          </a:xfrm>
          <a:prstGeom prst="rect">
            <a:avLst/>
          </a:prstGeom>
          <a:solidFill>
            <a:srgbClr val="101014"/>
          </a:solidFill>
        </p:spPr>
      </p:sp>
      <p:sp>
        <p:nvSpPr>
          <p:cNvPr id="10" name="Text 8"/>
          <p:cNvSpPr/>
          <p:nvPr/>
        </p:nvSpPr>
        <p:spPr>
          <a:xfrm>
            <a:off x="7428548" y="2946797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Calibri" panose="020F0502020204030204" charset="0"/>
                <a:ea typeface="Playfair Display Bold" pitchFamily="34" charset="-122"/>
                <a:cs typeface="Calibri" panose="020F0502020204030204" charset="0"/>
              </a:rPr>
              <a:t>Cosine similarity</a:t>
            </a:r>
            <a:endParaRPr lang="en-US" sz="22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428548" y="3437215"/>
            <a:ext cx="6408063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Compare user embeddings with verse embeddings to find the most relevant Gita teachings.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5058847"/>
            <a:ext cx="226814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5413891"/>
            <a:ext cx="6407944" cy="30480"/>
          </a:xfrm>
          <a:prstGeom prst="rect">
            <a:avLst/>
          </a:prstGeom>
          <a:solidFill>
            <a:srgbClr val="101014"/>
          </a:solidFill>
        </p:spPr>
      </p:sp>
      <p:sp>
        <p:nvSpPr>
          <p:cNvPr id="14" name="Text 12"/>
          <p:cNvSpPr/>
          <p:nvPr/>
        </p:nvSpPr>
        <p:spPr>
          <a:xfrm>
            <a:off x="793790" y="5588198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ea typeface="Playfair Display Bold" pitchFamily="34" charset="-122"/>
                <a:cs typeface="+mn-lt"/>
              </a:rPr>
              <a:t>Text preprocessing</a:t>
            </a:r>
            <a:endParaRPr lang="en-US" sz="2200" dirty="0">
              <a:cs typeface="+mn-l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93790" y="6078617"/>
            <a:ext cx="6407944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Clean user responses and verse meanings for better embeddings.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428548" y="5058847"/>
            <a:ext cx="226814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428548" y="5413891"/>
            <a:ext cx="6408063" cy="30480"/>
          </a:xfrm>
          <a:prstGeom prst="rect">
            <a:avLst/>
          </a:prstGeom>
          <a:solidFill>
            <a:srgbClr val="101014"/>
          </a:solidFill>
        </p:spPr>
      </p:sp>
      <p:sp>
        <p:nvSpPr>
          <p:cNvPr id="18" name="Text 16"/>
          <p:cNvSpPr/>
          <p:nvPr/>
        </p:nvSpPr>
        <p:spPr>
          <a:xfrm>
            <a:off x="7428548" y="5588198"/>
            <a:ext cx="3376374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Calibri" panose="020F0502020204030204" charset="0"/>
                <a:ea typeface="Playfair Display Bold" pitchFamily="34" charset="-122"/>
                <a:cs typeface="Calibri" panose="020F0502020204030204" charset="0"/>
              </a:rPr>
              <a:t>Optional: Intent detection</a:t>
            </a:r>
            <a:endParaRPr lang="en-US" sz="22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428548" y="6078617"/>
            <a:ext cx="6408063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Using keywords or embeddings to map free-text answers to Yoga categories.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6526" y="814983"/>
            <a:ext cx="6203394" cy="6933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101014"/>
                </a:solidFill>
                <a:latin typeface="Calibri" panose="020F0502020204030204" charset="0"/>
                <a:ea typeface="Playfair Display Bold" pitchFamily="34" charset="-122"/>
                <a:cs typeface="Calibri" panose="020F0502020204030204" charset="0"/>
              </a:rPr>
              <a:t>What will be the output?</a:t>
            </a:r>
            <a:endParaRPr lang="en-US" sz="435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Shape 1"/>
          <p:cNvSpPr/>
          <p:nvPr>
            <p:custDataLst>
              <p:tags r:id="rId1"/>
            </p:custDataLst>
          </p:nvPr>
        </p:nvSpPr>
        <p:spPr>
          <a:xfrm>
            <a:off x="776526" y="1942386"/>
            <a:ext cx="6430089" cy="2505432"/>
          </a:xfrm>
          <a:prstGeom prst="roundRect">
            <a:avLst>
              <a:gd name="adj" fmla="val 1328"/>
            </a:avLst>
          </a:prstGeom>
          <a:solidFill>
            <a:srgbClr val="E0E0EC"/>
          </a:solidFill>
        </p:spPr>
      </p:sp>
      <p:sp>
        <p:nvSpPr>
          <p:cNvPr id="4" name="Shape 2"/>
          <p:cNvSpPr/>
          <p:nvPr>
            <p:custDataLst>
              <p:tags r:id="rId2"/>
            </p:custDataLst>
          </p:nvPr>
        </p:nvSpPr>
        <p:spPr>
          <a:xfrm>
            <a:off x="998339" y="2164199"/>
            <a:ext cx="665678" cy="665678"/>
          </a:xfrm>
          <a:prstGeom prst="roundRect">
            <a:avLst>
              <a:gd name="adj" fmla="val 13734997"/>
            </a:avLst>
          </a:prstGeom>
          <a:solidFill>
            <a:srgbClr val="101014"/>
          </a:solidFill>
        </p:spPr>
      </p:sp>
      <p:pic>
        <p:nvPicPr>
          <p:cNvPr id="5" name="Image 0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81457" y="2347198"/>
            <a:ext cx="299442" cy="299442"/>
          </a:xfrm>
          <a:prstGeom prst="rect">
            <a:avLst/>
          </a:prstGeom>
        </p:spPr>
      </p:pic>
      <p:sp>
        <p:nvSpPr>
          <p:cNvPr id="6" name="Text 3"/>
          <p:cNvSpPr/>
          <p:nvPr>
            <p:custDataLst>
              <p:tags r:id="rId6"/>
            </p:custDataLst>
          </p:nvPr>
        </p:nvSpPr>
        <p:spPr>
          <a:xfrm>
            <a:off x="998339" y="3046928"/>
            <a:ext cx="2773680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9393C"/>
                </a:solidFill>
                <a:latin typeface="Arial Black" panose="020B0A04020102020204" charset="0"/>
                <a:ea typeface="Playfair Display Bold" pitchFamily="34" charset="-122"/>
                <a:cs typeface="Arial Black" panose="020B0A04020102020204" charset="0"/>
              </a:rPr>
              <a:t>Dominant Yoga Type</a:t>
            </a:r>
            <a:endParaRPr lang="en-US" sz="2150" dirty="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7" name="Text 4"/>
          <p:cNvSpPr/>
          <p:nvPr>
            <p:custDataLst>
              <p:tags r:id="rId7"/>
            </p:custDataLst>
          </p:nvPr>
        </p:nvSpPr>
        <p:spPr>
          <a:xfrm>
            <a:off x="998339" y="3523774"/>
            <a:ext cx="5986463" cy="3511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Karma, Bhakti, or Jnana.</a:t>
            </a:r>
            <a:endParaRPr lang="en-US" sz="1700" dirty="0"/>
          </a:p>
        </p:txBody>
      </p:sp>
      <p:sp>
        <p:nvSpPr>
          <p:cNvPr id="8" name="Shape 5"/>
          <p:cNvSpPr/>
          <p:nvPr>
            <p:custDataLst>
              <p:tags r:id="rId8"/>
            </p:custDataLst>
          </p:nvPr>
        </p:nvSpPr>
        <p:spPr>
          <a:xfrm>
            <a:off x="7423666" y="1942386"/>
            <a:ext cx="6430208" cy="2505432"/>
          </a:xfrm>
          <a:prstGeom prst="roundRect">
            <a:avLst>
              <a:gd name="adj" fmla="val 1328"/>
            </a:avLst>
          </a:prstGeom>
          <a:solidFill>
            <a:srgbClr val="E0E0EC"/>
          </a:solidFill>
        </p:spPr>
      </p:sp>
      <p:sp>
        <p:nvSpPr>
          <p:cNvPr id="9" name="Shape 6"/>
          <p:cNvSpPr/>
          <p:nvPr>
            <p:custDataLst>
              <p:tags r:id="rId9"/>
            </p:custDataLst>
          </p:nvPr>
        </p:nvSpPr>
        <p:spPr>
          <a:xfrm>
            <a:off x="7645479" y="2164199"/>
            <a:ext cx="665678" cy="665678"/>
          </a:xfrm>
          <a:prstGeom prst="roundRect">
            <a:avLst>
              <a:gd name="adj" fmla="val 13734997"/>
            </a:avLst>
          </a:prstGeom>
          <a:solidFill>
            <a:srgbClr val="101014"/>
          </a:solidFill>
        </p:spPr>
      </p:sp>
      <p:pic>
        <p:nvPicPr>
          <p:cNvPr id="10" name="Image 1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828598" y="2347198"/>
            <a:ext cx="299442" cy="299442"/>
          </a:xfrm>
          <a:prstGeom prst="rect">
            <a:avLst/>
          </a:prstGeom>
        </p:spPr>
      </p:pic>
      <p:sp>
        <p:nvSpPr>
          <p:cNvPr id="11" name="Text 7"/>
          <p:cNvSpPr/>
          <p:nvPr>
            <p:custDataLst>
              <p:tags r:id="rId12"/>
            </p:custDataLst>
          </p:nvPr>
        </p:nvSpPr>
        <p:spPr>
          <a:xfrm>
            <a:off x="7645479" y="3046928"/>
            <a:ext cx="2773680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9393C"/>
                </a:solidFill>
                <a:latin typeface="Arial Black" panose="020B0A04020102020204" charset="0"/>
                <a:ea typeface="Playfair Display Bold" pitchFamily="34" charset="-122"/>
                <a:cs typeface="Arial Black" panose="020B0A04020102020204" charset="0"/>
              </a:rPr>
              <a:t>Radar Chart</a:t>
            </a:r>
            <a:endParaRPr lang="en-US" sz="2150" dirty="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12" name="Text 8"/>
          <p:cNvSpPr/>
          <p:nvPr>
            <p:custDataLst>
              <p:tags r:id="rId13"/>
            </p:custDataLst>
          </p:nvPr>
        </p:nvSpPr>
        <p:spPr>
          <a:xfrm>
            <a:off x="7645479" y="3523774"/>
            <a:ext cx="5986582" cy="70223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 representation of the user's score in all three yogas.</a:t>
            </a:r>
            <a:endParaRPr lang="en-US" sz="1700" dirty="0"/>
          </a:p>
        </p:txBody>
      </p:sp>
      <p:sp>
        <p:nvSpPr>
          <p:cNvPr id="13" name="Shape 9"/>
          <p:cNvSpPr/>
          <p:nvPr>
            <p:custDataLst>
              <p:tags r:id="rId14"/>
            </p:custDataLst>
          </p:nvPr>
        </p:nvSpPr>
        <p:spPr>
          <a:xfrm>
            <a:off x="776526" y="4664869"/>
            <a:ext cx="6430089" cy="2154317"/>
          </a:xfrm>
          <a:prstGeom prst="roundRect">
            <a:avLst>
              <a:gd name="adj" fmla="val 1545"/>
            </a:avLst>
          </a:prstGeom>
          <a:solidFill>
            <a:srgbClr val="E0E0EC"/>
          </a:solidFill>
        </p:spPr>
      </p:sp>
      <p:sp>
        <p:nvSpPr>
          <p:cNvPr id="14" name="Shape 10"/>
          <p:cNvSpPr/>
          <p:nvPr>
            <p:custDataLst>
              <p:tags r:id="rId15"/>
            </p:custDataLst>
          </p:nvPr>
        </p:nvSpPr>
        <p:spPr>
          <a:xfrm>
            <a:off x="998339" y="4886682"/>
            <a:ext cx="665678" cy="665678"/>
          </a:xfrm>
          <a:prstGeom prst="roundRect">
            <a:avLst>
              <a:gd name="adj" fmla="val 13734997"/>
            </a:avLst>
          </a:prstGeom>
          <a:solidFill>
            <a:srgbClr val="101014"/>
          </a:solidFill>
        </p:spPr>
      </p:sp>
      <p:pic>
        <p:nvPicPr>
          <p:cNvPr id="15" name="Image 2" descr="preencoded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81457" y="5069681"/>
            <a:ext cx="299442" cy="299442"/>
          </a:xfrm>
          <a:prstGeom prst="rect">
            <a:avLst/>
          </a:prstGeom>
        </p:spPr>
      </p:pic>
      <p:sp>
        <p:nvSpPr>
          <p:cNvPr id="16" name="Text 11"/>
          <p:cNvSpPr/>
          <p:nvPr>
            <p:custDataLst>
              <p:tags r:id="rId18"/>
            </p:custDataLst>
          </p:nvPr>
        </p:nvSpPr>
        <p:spPr>
          <a:xfrm>
            <a:off x="998339" y="5769412"/>
            <a:ext cx="2971562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9393C"/>
                </a:solidFill>
                <a:latin typeface="Arial Black" panose="020B0A04020102020204" charset="0"/>
                <a:ea typeface="Playfair Display Bold" pitchFamily="34" charset="-122"/>
                <a:cs typeface="Arial Black" panose="020B0A04020102020204" charset="0"/>
              </a:rPr>
              <a:t>Recommended Shlokas</a:t>
            </a:r>
            <a:endParaRPr lang="en-US" sz="2150" dirty="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17" name="Text 12"/>
          <p:cNvSpPr/>
          <p:nvPr>
            <p:custDataLst>
              <p:tags r:id="rId19"/>
            </p:custDataLst>
          </p:nvPr>
        </p:nvSpPr>
        <p:spPr>
          <a:xfrm>
            <a:off x="998339" y="6246257"/>
            <a:ext cx="5986463" cy="3511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Top 3–5 Gita verses that align with the user's personality.</a:t>
            </a:r>
            <a:endParaRPr lang="en-US" sz="1700" dirty="0"/>
          </a:p>
        </p:txBody>
      </p:sp>
      <p:sp>
        <p:nvSpPr>
          <p:cNvPr id="18" name="Shape 13"/>
          <p:cNvSpPr/>
          <p:nvPr>
            <p:custDataLst>
              <p:tags r:id="rId20"/>
            </p:custDataLst>
          </p:nvPr>
        </p:nvSpPr>
        <p:spPr>
          <a:xfrm>
            <a:off x="7423666" y="4664869"/>
            <a:ext cx="6430208" cy="2154317"/>
          </a:xfrm>
          <a:prstGeom prst="roundRect">
            <a:avLst>
              <a:gd name="adj" fmla="val 1545"/>
            </a:avLst>
          </a:prstGeom>
          <a:solidFill>
            <a:srgbClr val="E0E0EC"/>
          </a:solidFill>
        </p:spPr>
      </p:sp>
      <p:sp>
        <p:nvSpPr>
          <p:cNvPr id="19" name="Shape 14"/>
          <p:cNvSpPr/>
          <p:nvPr>
            <p:custDataLst>
              <p:tags r:id="rId21"/>
            </p:custDataLst>
          </p:nvPr>
        </p:nvSpPr>
        <p:spPr>
          <a:xfrm>
            <a:off x="7645479" y="4886682"/>
            <a:ext cx="665678" cy="665678"/>
          </a:xfrm>
          <a:prstGeom prst="roundRect">
            <a:avLst>
              <a:gd name="adj" fmla="val 13734997"/>
            </a:avLst>
          </a:prstGeom>
          <a:solidFill>
            <a:srgbClr val="101014"/>
          </a:solidFill>
        </p:spPr>
      </p:sp>
      <p:pic>
        <p:nvPicPr>
          <p:cNvPr id="20" name="Image 3" descr="preencoded.png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828598" y="5069681"/>
            <a:ext cx="299442" cy="299442"/>
          </a:xfrm>
          <a:prstGeom prst="rect">
            <a:avLst/>
          </a:prstGeom>
        </p:spPr>
      </p:pic>
      <p:sp>
        <p:nvSpPr>
          <p:cNvPr id="21" name="Text 15"/>
          <p:cNvSpPr/>
          <p:nvPr>
            <p:custDataLst>
              <p:tags r:id="rId24"/>
            </p:custDataLst>
          </p:nvPr>
        </p:nvSpPr>
        <p:spPr>
          <a:xfrm>
            <a:off x="7645479" y="5769412"/>
            <a:ext cx="2773680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9393C"/>
                </a:solidFill>
                <a:latin typeface="Arial Black" panose="020B0A04020102020204" charset="0"/>
                <a:ea typeface="Playfair Display Bold" pitchFamily="34" charset="-122"/>
                <a:cs typeface="Arial Black" panose="020B0A04020102020204" charset="0"/>
              </a:rPr>
              <a:t>Explanation</a:t>
            </a:r>
            <a:endParaRPr lang="en-US" sz="2150" b="1" dirty="0">
              <a:solidFill>
                <a:srgbClr val="39393C"/>
              </a:solidFill>
              <a:latin typeface="Arial Black" panose="020B0A04020102020204" charset="0"/>
              <a:ea typeface="Playfair Display Bold" pitchFamily="34" charset="-122"/>
              <a:cs typeface="Arial Black" panose="020B0A04020102020204" charset="0"/>
            </a:endParaRPr>
          </a:p>
        </p:txBody>
      </p:sp>
      <p:sp>
        <p:nvSpPr>
          <p:cNvPr id="22" name="Text 16"/>
          <p:cNvSpPr/>
          <p:nvPr>
            <p:custDataLst>
              <p:tags r:id="rId25"/>
            </p:custDataLst>
          </p:nvPr>
        </p:nvSpPr>
        <p:spPr>
          <a:xfrm>
            <a:off x="7645479" y="6246257"/>
            <a:ext cx="5986582" cy="3511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Short reasoning for why each verse is recommended.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76526" y="7063383"/>
            <a:ext cx="13077349" cy="3511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Optional:</a:t>
            </a:r>
            <a:r>
              <a:rPr lang="en-US" sz="1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Interactive visual or web interface for exploring</a:t>
            </a:r>
            <a:endParaRPr lang="en-US" sz="1700" dirty="0"/>
          </a:p>
        </p:txBody>
      </p:sp>
      <p:sp>
        <p:nvSpPr>
          <p:cNvPr id="24" name="Rectangles 23"/>
          <p:cNvSpPr/>
          <p:nvPr/>
        </p:nvSpPr>
        <p:spPr>
          <a:xfrm>
            <a:off x="7423785" y="4664710"/>
            <a:ext cx="6430010" cy="2154555"/>
          </a:xfrm>
          <a:prstGeom prst="rect">
            <a:avLst/>
          </a:prstGeom>
          <a:solidFill>
            <a:srgbClr val="F3F3F7"/>
          </a:solidFill>
          <a:ln>
            <a:solidFill>
              <a:srgbClr val="F3F3F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37623"/>
            <a:ext cx="11858387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Calibri" panose="020F0502020204030204" charset="0"/>
                <a:ea typeface="Playfair Display Bold" pitchFamily="34" charset="-122"/>
                <a:cs typeface="Calibri" panose="020F0502020204030204" charset="0"/>
              </a:rPr>
              <a:t>Step 2: Requirement Analysis + Tool Selection</a:t>
            </a:r>
            <a:endParaRPr lang="en-US" sz="445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737128"/>
            <a:ext cx="10511909" cy="566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01014"/>
                </a:solidFill>
                <a:latin typeface="Calibri" panose="020F0502020204030204" charset="0"/>
                <a:ea typeface="Playfair Display Bold" pitchFamily="34" charset="-122"/>
                <a:cs typeface="Calibri" panose="020F0502020204030204" charset="0"/>
              </a:rPr>
              <a:t>Here you list what you need and which tools to use:</a:t>
            </a:r>
            <a:endParaRPr lang="en-US" sz="355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394829"/>
            <a:ext cx="4078605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01014"/>
                </a:solidFill>
                <a:latin typeface="Calibri" panose="020F0502020204030204" charset="0"/>
                <a:ea typeface="Playfair Display Bold" pitchFamily="34" charset="-122"/>
                <a:cs typeface="Calibri" panose="020F0502020204030204" charset="0"/>
              </a:rPr>
              <a:t>Functional Requirements:</a:t>
            </a:r>
            <a:endParaRPr lang="en-US" sz="265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4160282"/>
            <a:ext cx="13042821" cy="21316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Collect free-text answers from users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Analyze responses using NLP embeddings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Map responses to personality categories (Karma, Bhakti, Jnana)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Recommend verses based on semantic similarity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Visualize personality distribution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1783" y="906423"/>
            <a:ext cx="10025777" cy="5781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endParaRPr lang="en-US" sz="3600" dirty="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45490" y="758825"/>
            <a:ext cx="3578860" cy="11379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3600" b="1" dirty="0">
                <a:solidFill>
                  <a:srgbClr val="101014"/>
                </a:solidFill>
                <a:latin typeface="Arial Black" panose="020B0A04020102020204" charset="0"/>
                <a:ea typeface="Playfair Display Bold" pitchFamily="34" charset="-122"/>
                <a:cs typeface="Arial Black" panose="020B0A04020102020204" charset="0"/>
              </a:rPr>
              <a:t>Tool Selection:</a:t>
            </a:r>
            <a:endParaRPr lang="en-US" sz="3600" dirty="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687308" y="2250678"/>
            <a:ext cx="6307931" cy="1064062"/>
          </a:xfrm>
          <a:prstGeom prst="roundRect">
            <a:avLst>
              <a:gd name="adj" fmla="val 10312"/>
            </a:avLst>
          </a:prstGeom>
          <a:solidFill>
            <a:srgbClr val="F3F3F7"/>
          </a:solidFill>
          <a:ln w="22860">
            <a:solidFill>
              <a:srgbClr val="C6C6D2"/>
            </a:solidFill>
            <a:prstDash val="solid"/>
          </a:ln>
        </p:spPr>
      </p:sp>
      <p:sp>
        <p:nvSpPr>
          <p:cNvPr id="7" name="Shape 5"/>
          <p:cNvSpPr/>
          <p:nvPr>
            <p:custDataLst>
              <p:tags r:id="rId2"/>
            </p:custDataLst>
          </p:nvPr>
        </p:nvSpPr>
        <p:spPr>
          <a:xfrm>
            <a:off x="664448" y="2250678"/>
            <a:ext cx="91440" cy="1064062"/>
          </a:xfrm>
          <a:prstGeom prst="roundRect">
            <a:avLst>
              <a:gd name="adj" fmla="val 30352"/>
            </a:avLst>
          </a:prstGeom>
          <a:solidFill>
            <a:srgbClr val="101014"/>
          </a:solidFill>
        </p:spPr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963771" y="2458561"/>
            <a:ext cx="2510433" cy="28908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9393C"/>
                </a:solidFill>
                <a:latin typeface="Arial Black" panose="020B0A04020102020204" charset="0"/>
                <a:ea typeface="Playfair Display Bold" pitchFamily="34" charset="-122"/>
                <a:cs typeface="Arial Black" panose="020B0A04020102020204" charset="0"/>
              </a:rPr>
              <a:t>Programming language</a:t>
            </a:r>
            <a:endParaRPr lang="en-US" sz="1800" dirty="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963771" y="2838133"/>
            <a:ext cx="5823585" cy="2687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</a:t>
            </a:r>
            <a:endParaRPr lang="en-US" sz="1450" dirty="0"/>
          </a:p>
        </p:txBody>
      </p:sp>
      <p:sp>
        <p:nvSpPr>
          <p:cNvPr id="10" name="Shape 8"/>
          <p:cNvSpPr/>
          <p:nvPr>
            <p:custDataLst>
              <p:tags r:id="rId5"/>
            </p:custDataLst>
          </p:nvPr>
        </p:nvSpPr>
        <p:spPr>
          <a:xfrm>
            <a:off x="7146092" y="2250678"/>
            <a:ext cx="6307931" cy="1064062"/>
          </a:xfrm>
          <a:prstGeom prst="roundRect">
            <a:avLst>
              <a:gd name="adj" fmla="val 10312"/>
            </a:avLst>
          </a:prstGeom>
          <a:solidFill>
            <a:srgbClr val="F3F3F7"/>
          </a:solidFill>
          <a:ln w="22860">
            <a:solidFill>
              <a:srgbClr val="C6C6D2"/>
            </a:solidFill>
            <a:prstDash val="solid"/>
          </a:ln>
        </p:spPr>
      </p:sp>
      <p:sp>
        <p:nvSpPr>
          <p:cNvPr id="11" name="Shape 9"/>
          <p:cNvSpPr/>
          <p:nvPr>
            <p:custDataLst>
              <p:tags r:id="rId6"/>
            </p:custDataLst>
          </p:nvPr>
        </p:nvSpPr>
        <p:spPr>
          <a:xfrm>
            <a:off x="7123232" y="2250678"/>
            <a:ext cx="91440" cy="1064062"/>
          </a:xfrm>
          <a:prstGeom prst="roundRect">
            <a:avLst>
              <a:gd name="adj" fmla="val 30352"/>
            </a:avLst>
          </a:prstGeom>
          <a:solidFill>
            <a:srgbClr val="101014"/>
          </a:solidFill>
        </p:spPr>
      </p:sp>
      <p:sp>
        <p:nvSpPr>
          <p:cNvPr id="12" name="Text 10"/>
          <p:cNvSpPr/>
          <p:nvPr>
            <p:custDataLst>
              <p:tags r:id="rId7"/>
            </p:custDataLst>
          </p:nvPr>
        </p:nvSpPr>
        <p:spPr>
          <a:xfrm>
            <a:off x="7422555" y="2458561"/>
            <a:ext cx="2312789" cy="28908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9393C"/>
                </a:solidFill>
                <a:latin typeface="Arial Black" panose="020B0A04020102020204" charset="0"/>
                <a:ea typeface="Playfair Display Bold" pitchFamily="34" charset="-122"/>
                <a:cs typeface="Arial Black" panose="020B0A04020102020204" charset="0"/>
              </a:rPr>
              <a:t>NLP &amp; embeddings</a:t>
            </a:r>
            <a:endParaRPr lang="en-US" sz="1800" dirty="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13" name="Text 11"/>
          <p:cNvSpPr/>
          <p:nvPr>
            <p:custDataLst>
              <p:tags r:id="rId8"/>
            </p:custDataLst>
          </p:nvPr>
        </p:nvSpPr>
        <p:spPr>
          <a:xfrm>
            <a:off x="7422555" y="2838133"/>
            <a:ext cx="5823585" cy="2687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sentence-transformers (for semantic similarity)</a:t>
            </a:r>
            <a:endParaRPr lang="en-US" sz="1450" dirty="0"/>
          </a:p>
        </p:txBody>
      </p:sp>
      <p:sp>
        <p:nvSpPr>
          <p:cNvPr id="14" name="Shape 12"/>
          <p:cNvSpPr/>
          <p:nvPr>
            <p:custDataLst>
              <p:tags r:id="rId9"/>
            </p:custDataLst>
          </p:nvPr>
        </p:nvSpPr>
        <p:spPr>
          <a:xfrm>
            <a:off x="687308" y="3465592"/>
            <a:ext cx="6307931" cy="1064062"/>
          </a:xfrm>
          <a:prstGeom prst="roundRect">
            <a:avLst>
              <a:gd name="adj" fmla="val 10312"/>
            </a:avLst>
          </a:prstGeom>
          <a:solidFill>
            <a:srgbClr val="F3F3F7"/>
          </a:solidFill>
          <a:ln w="22860">
            <a:solidFill>
              <a:srgbClr val="C6C6D2"/>
            </a:solidFill>
            <a:prstDash val="solid"/>
          </a:ln>
        </p:spPr>
      </p:sp>
      <p:sp>
        <p:nvSpPr>
          <p:cNvPr id="15" name="Shape 13"/>
          <p:cNvSpPr/>
          <p:nvPr>
            <p:custDataLst>
              <p:tags r:id="rId10"/>
            </p:custDataLst>
          </p:nvPr>
        </p:nvSpPr>
        <p:spPr>
          <a:xfrm>
            <a:off x="664448" y="3465592"/>
            <a:ext cx="91440" cy="1064062"/>
          </a:xfrm>
          <a:prstGeom prst="roundRect">
            <a:avLst>
              <a:gd name="adj" fmla="val 30352"/>
            </a:avLst>
          </a:prstGeom>
          <a:solidFill>
            <a:srgbClr val="101014"/>
          </a:solidFill>
        </p:spPr>
      </p:sp>
      <p:sp>
        <p:nvSpPr>
          <p:cNvPr id="16" name="Text 14"/>
          <p:cNvSpPr/>
          <p:nvPr>
            <p:custDataLst>
              <p:tags r:id="rId11"/>
            </p:custDataLst>
          </p:nvPr>
        </p:nvSpPr>
        <p:spPr>
          <a:xfrm>
            <a:off x="963771" y="3673475"/>
            <a:ext cx="2312789" cy="28908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9393C"/>
                </a:solidFill>
                <a:latin typeface="Arial Black" panose="020B0A04020102020204" charset="0"/>
                <a:ea typeface="Playfair Display Bold" pitchFamily="34" charset="-122"/>
                <a:cs typeface="Arial Black" panose="020B0A04020102020204" charset="0"/>
              </a:rPr>
              <a:t>Data handling</a:t>
            </a:r>
            <a:endParaRPr lang="en-US" sz="1800" dirty="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17" name="Text 15"/>
          <p:cNvSpPr/>
          <p:nvPr>
            <p:custDataLst>
              <p:tags r:id="rId12"/>
            </p:custDataLst>
          </p:nvPr>
        </p:nvSpPr>
        <p:spPr>
          <a:xfrm>
            <a:off x="963771" y="4053046"/>
            <a:ext cx="5823585" cy="2687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pandas</a:t>
            </a:r>
            <a:endParaRPr lang="en-US" sz="1450" dirty="0"/>
          </a:p>
        </p:txBody>
      </p:sp>
      <p:sp>
        <p:nvSpPr>
          <p:cNvPr id="18" name="Shape 16"/>
          <p:cNvSpPr/>
          <p:nvPr>
            <p:custDataLst>
              <p:tags r:id="rId13"/>
            </p:custDataLst>
          </p:nvPr>
        </p:nvSpPr>
        <p:spPr>
          <a:xfrm>
            <a:off x="7146092" y="3465592"/>
            <a:ext cx="6307931" cy="1064062"/>
          </a:xfrm>
          <a:prstGeom prst="roundRect">
            <a:avLst>
              <a:gd name="adj" fmla="val 10312"/>
            </a:avLst>
          </a:prstGeom>
          <a:solidFill>
            <a:srgbClr val="F3F3F7"/>
          </a:solidFill>
          <a:ln w="22860">
            <a:solidFill>
              <a:srgbClr val="C6C6D2"/>
            </a:solidFill>
            <a:prstDash val="solid"/>
          </a:ln>
        </p:spPr>
      </p:sp>
      <p:sp>
        <p:nvSpPr>
          <p:cNvPr id="19" name="Shape 17"/>
          <p:cNvSpPr/>
          <p:nvPr>
            <p:custDataLst>
              <p:tags r:id="rId14"/>
            </p:custDataLst>
          </p:nvPr>
        </p:nvSpPr>
        <p:spPr>
          <a:xfrm>
            <a:off x="7123232" y="3465592"/>
            <a:ext cx="91440" cy="1064062"/>
          </a:xfrm>
          <a:prstGeom prst="roundRect">
            <a:avLst>
              <a:gd name="adj" fmla="val 30352"/>
            </a:avLst>
          </a:prstGeom>
          <a:solidFill>
            <a:srgbClr val="101014"/>
          </a:solidFill>
        </p:spPr>
      </p:sp>
      <p:sp>
        <p:nvSpPr>
          <p:cNvPr id="20" name="Text 18"/>
          <p:cNvSpPr/>
          <p:nvPr>
            <p:custDataLst>
              <p:tags r:id="rId15"/>
            </p:custDataLst>
          </p:nvPr>
        </p:nvSpPr>
        <p:spPr>
          <a:xfrm>
            <a:off x="7422555" y="3673475"/>
            <a:ext cx="2312789" cy="28908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9393C"/>
                </a:solidFill>
                <a:latin typeface="Arial Black" panose="020B0A04020102020204" charset="0"/>
                <a:ea typeface="Playfair Display Bold" pitchFamily="34" charset="-122"/>
                <a:cs typeface="Arial Black" panose="020B0A04020102020204" charset="0"/>
              </a:rPr>
              <a:t>Visualization</a:t>
            </a:r>
            <a:endParaRPr lang="en-US" sz="1800" dirty="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21" name="Text 19"/>
          <p:cNvSpPr/>
          <p:nvPr>
            <p:custDataLst>
              <p:tags r:id="rId16"/>
            </p:custDataLst>
          </p:nvPr>
        </p:nvSpPr>
        <p:spPr>
          <a:xfrm>
            <a:off x="7422555" y="4053046"/>
            <a:ext cx="5823585" cy="2687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matplotlib (for radar charts), optional plotly for interactive charts</a:t>
            </a:r>
            <a:endParaRPr lang="en-US" sz="1450" dirty="0"/>
          </a:p>
        </p:txBody>
      </p:sp>
      <p:sp>
        <p:nvSpPr>
          <p:cNvPr id="22" name="Shape 20"/>
          <p:cNvSpPr/>
          <p:nvPr>
            <p:custDataLst>
              <p:tags r:id="rId17"/>
            </p:custDataLst>
          </p:nvPr>
        </p:nvSpPr>
        <p:spPr>
          <a:xfrm>
            <a:off x="687308" y="4680506"/>
            <a:ext cx="6307931" cy="1064062"/>
          </a:xfrm>
          <a:prstGeom prst="roundRect">
            <a:avLst>
              <a:gd name="adj" fmla="val 10312"/>
            </a:avLst>
          </a:prstGeom>
          <a:solidFill>
            <a:srgbClr val="F3F3F7"/>
          </a:solidFill>
          <a:ln w="22860">
            <a:solidFill>
              <a:srgbClr val="C6C6D2"/>
            </a:solidFill>
            <a:prstDash val="solid"/>
          </a:ln>
        </p:spPr>
      </p:sp>
      <p:sp>
        <p:nvSpPr>
          <p:cNvPr id="23" name="Shape 21"/>
          <p:cNvSpPr/>
          <p:nvPr>
            <p:custDataLst>
              <p:tags r:id="rId18"/>
            </p:custDataLst>
          </p:nvPr>
        </p:nvSpPr>
        <p:spPr>
          <a:xfrm>
            <a:off x="664448" y="4680506"/>
            <a:ext cx="91440" cy="1064062"/>
          </a:xfrm>
          <a:prstGeom prst="roundRect">
            <a:avLst>
              <a:gd name="adj" fmla="val 30352"/>
            </a:avLst>
          </a:prstGeom>
          <a:solidFill>
            <a:srgbClr val="101014"/>
          </a:solidFill>
        </p:spPr>
      </p:sp>
      <p:sp>
        <p:nvSpPr>
          <p:cNvPr id="24" name="Text 22"/>
          <p:cNvSpPr/>
          <p:nvPr>
            <p:custDataLst>
              <p:tags r:id="rId19"/>
            </p:custDataLst>
          </p:nvPr>
        </p:nvSpPr>
        <p:spPr>
          <a:xfrm>
            <a:off x="963771" y="4888389"/>
            <a:ext cx="2737961" cy="28908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9393C"/>
                </a:solidFill>
                <a:latin typeface="Arial Black" panose="020B0A04020102020204" charset="0"/>
                <a:ea typeface="Playfair Display Bold" pitchFamily="34" charset="-122"/>
                <a:cs typeface="Arial Black" panose="020B0A04020102020204" charset="0"/>
              </a:rPr>
              <a:t>Machine learning utilities</a:t>
            </a:r>
            <a:endParaRPr lang="en-US" sz="1800" dirty="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25" name="Text 23"/>
          <p:cNvSpPr/>
          <p:nvPr>
            <p:custDataLst>
              <p:tags r:id="rId20"/>
            </p:custDataLst>
          </p:nvPr>
        </p:nvSpPr>
        <p:spPr>
          <a:xfrm>
            <a:off x="963771" y="5267960"/>
            <a:ext cx="5823585" cy="2687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scikit-learn (cosine similarity)</a:t>
            </a:r>
            <a:endParaRPr lang="en-US" sz="1450" dirty="0"/>
          </a:p>
        </p:txBody>
      </p:sp>
      <p:sp>
        <p:nvSpPr>
          <p:cNvPr id="26" name="Shape 24"/>
          <p:cNvSpPr/>
          <p:nvPr>
            <p:custDataLst>
              <p:tags r:id="rId21"/>
            </p:custDataLst>
          </p:nvPr>
        </p:nvSpPr>
        <p:spPr>
          <a:xfrm>
            <a:off x="7146092" y="4680506"/>
            <a:ext cx="6307931" cy="1064062"/>
          </a:xfrm>
          <a:prstGeom prst="roundRect">
            <a:avLst>
              <a:gd name="adj" fmla="val 10312"/>
            </a:avLst>
          </a:prstGeom>
          <a:solidFill>
            <a:srgbClr val="F3F3F7"/>
          </a:solidFill>
          <a:ln w="22860">
            <a:solidFill>
              <a:srgbClr val="C6C6D2"/>
            </a:solidFill>
            <a:prstDash val="solid"/>
          </a:ln>
        </p:spPr>
      </p:sp>
      <p:sp>
        <p:nvSpPr>
          <p:cNvPr id="27" name="Shape 25"/>
          <p:cNvSpPr/>
          <p:nvPr>
            <p:custDataLst>
              <p:tags r:id="rId22"/>
            </p:custDataLst>
          </p:nvPr>
        </p:nvSpPr>
        <p:spPr>
          <a:xfrm>
            <a:off x="7123232" y="4680506"/>
            <a:ext cx="91440" cy="1064062"/>
          </a:xfrm>
          <a:prstGeom prst="roundRect">
            <a:avLst>
              <a:gd name="adj" fmla="val 30352"/>
            </a:avLst>
          </a:prstGeom>
          <a:solidFill>
            <a:srgbClr val="101014"/>
          </a:solidFill>
        </p:spPr>
      </p:sp>
      <p:sp>
        <p:nvSpPr>
          <p:cNvPr id="28" name="Text 26"/>
          <p:cNvSpPr/>
          <p:nvPr>
            <p:custDataLst>
              <p:tags r:id="rId23"/>
            </p:custDataLst>
          </p:nvPr>
        </p:nvSpPr>
        <p:spPr>
          <a:xfrm>
            <a:off x="7422555" y="4888389"/>
            <a:ext cx="2422088" cy="28908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9393C"/>
                </a:solidFill>
                <a:latin typeface="Arial Black" panose="020B0A04020102020204" charset="0"/>
                <a:ea typeface="Playfair Display Bold" pitchFamily="34" charset="-122"/>
                <a:cs typeface="Arial Black" panose="020B0A04020102020204" charset="0"/>
              </a:rPr>
              <a:t>Optional web interface</a:t>
            </a:r>
            <a:endParaRPr lang="en-US" sz="1800" dirty="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29" name="Text 27"/>
          <p:cNvSpPr/>
          <p:nvPr>
            <p:custDataLst>
              <p:tags r:id="rId24"/>
            </p:custDataLst>
          </p:nvPr>
        </p:nvSpPr>
        <p:spPr>
          <a:xfrm>
            <a:off x="7422555" y="5267960"/>
            <a:ext cx="5823585" cy="2687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Streamlit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29646"/>
            <a:ext cx="5885855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Arial Black" panose="020B0A04020102020204" charset="0"/>
                <a:ea typeface="Playfair Display Bold" pitchFamily="34" charset="-122"/>
                <a:cs typeface="Arial Black" panose="020B0A04020102020204" charset="0"/>
              </a:rPr>
              <a:t>Step 3: Data Collection</a:t>
            </a:r>
            <a:endParaRPr lang="en-US" sz="4450" dirty="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729151"/>
            <a:ext cx="9515594" cy="566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01014"/>
                </a:solidFill>
                <a:latin typeface="Calibri" panose="020F0502020204030204" charset="0"/>
                <a:ea typeface="Playfair Display Bold" pitchFamily="34" charset="-122"/>
                <a:cs typeface="Calibri" panose="020F0502020204030204" charset="0"/>
              </a:rPr>
              <a:t>Here you gather the data your system will use:</a:t>
            </a:r>
            <a:endParaRPr lang="en-US" sz="355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3636288"/>
            <a:ext cx="6407944" cy="2663666"/>
          </a:xfrm>
          <a:prstGeom prst="roundRect">
            <a:avLst>
              <a:gd name="adj" fmla="val 1277"/>
            </a:avLst>
          </a:prstGeom>
          <a:solidFill>
            <a:srgbClr val="F3F3F7"/>
          </a:solidFill>
          <a:ln w="30480">
            <a:solidFill>
              <a:srgbClr val="C6C6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084" y="3893582"/>
            <a:ext cx="3507462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9393C"/>
                </a:solidFill>
                <a:latin typeface="Arial Black" panose="020B0A04020102020204" charset="0"/>
                <a:ea typeface="Playfair Display Bold" pitchFamily="34" charset="-122"/>
                <a:cs typeface="Arial Black" panose="020B0A04020102020204" charset="0"/>
              </a:rPr>
              <a:t>Bhagavad Gita Dataset</a:t>
            </a:r>
            <a:endParaRPr lang="en-US" sz="2650" dirty="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51084" y="4454962"/>
            <a:ext cx="5893356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Contains chapters, verses (shlokas), English meanings, and yoga type labels.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51084" y="5316855"/>
            <a:ext cx="5893356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Example columns:</a:t>
            </a: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Chapter, Verse, Shloka, EngMeaning, Yoga_Types.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3636288"/>
            <a:ext cx="6408063" cy="2663666"/>
          </a:xfrm>
          <a:prstGeom prst="roundRect">
            <a:avLst>
              <a:gd name="adj" fmla="val 1277"/>
            </a:avLst>
          </a:prstGeom>
          <a:solidFill>
            <a:srgbClr val="F3F3F7"/>
          </a:solidFill>
          <a:ln w="30480">
            <a:solidFill>
              <a:srgbClr val="C6C6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5842" y="3893582"/>
            <a:ext cx="3402330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9393C"/>
                </a:solidFill>
                <a:latin typeface="Arial Black" panose="020B0A04020102020204" charset="0"/>
                <a:ea typeface="Playfair Display Bold" pitchFamily="34" charset="-122"/>
                <a:cs typeface="Arial Black" panose="020B0A04020102020204" charset="0"/>
              </a:rPr>
              <a:t>Quiz Questions</a:t>
            </a:r>
            <a:endParaRPr lang="en-US" sz="2650" dirty="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685842" y="4454962"/>
            <a:ext cx="589347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Free-text questions designed to probe user personality aligned with the three yogas.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685842" y="5316855"/>
            <a:ext cx="589347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Stored in a JSON file, each with an id, question, and optional intent.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451485" y="467360"/>
            <a:ext cx="72675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/>
              <a:t>SNAPSHOTS :</a:t>
            </a:r>
            <a:endParaRPr lang="en-US" sz="3200" b="1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1485" y="1050925"/>
            <a:ext cx="4572000" cy="668147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6835" y="1283970"/>
            <a:ext cx="4317365" cy="62153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0425" y="1578610"/>
            <a:ext cx="4634865" cy="5626735"/>
          </a:xfrm>
          <a:prstGeom prst="rect">
            <a:avLst/>
          </a:prstGeom>
        </p:spPr>
      </p:pic>
      <p:sp>
        <p:nvSpPr>
          <p:cNvPr id="6" name="Rectangles 5"/>
          <p:cNvSpPr/>
          <p:nvPr/>
        </p:nvSpPr>
        <p:spPr>
          <a:xfrm>
            <a:off x="9750425" y="3688715"/>
            <a:ext cx="4634865" cy="66929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Rectangles 6"/>
          <p:cNvSpPr/>
          <p:nvPr/>
        </p:nvSpPr>
        <p:spPr>
          <a:xfrm>
            <a:off x="9750425" y="5501005"/>
            <a:ext cx="4634865" cy="69405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691527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Calibri" panose="020F0502020204030204" charset="0"/>
                <a:ea typeface="Playfair Display Bold" pitchFamily="34" charset="-122"/>
                <a:cs typeface="Calibri" panose="020F0502020204030204" charset="0"/>
              </a:rPr>
              <a:t>Bringing Ancient Wisdom to Modern Technology</a:t>
            </a:r>
            <a:endParaRPr lang="en-US" sz="445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4449247"/>
            <a:ext cx="7556421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project combines the timeless teachings of the Bhagavad Gita with NLP techniques to create a personalized spiritual guidance tool.</a:t>
            </a:r>
            <a:endParaRPr lang="en-US" sz="175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65.6468503937008,&quot;left&quot;:62.50314960629921,&quot;top&quot;:242.07188976377952,&quot;width&quot;:1027.5937007874018}"/>
</p:tagLst>
</file>

<file path=ppt/tags/tag2.xml><?xml version="1.0" encoding="utf-8"?>
<p:tagLst xmlns:p="http://schemas.openxmlformats.org/presentationml/2006/main">
  <p:tag name="KSO_WM_DIAGRAM_VIRTUALLY_FRAME" val="{&quot;height&quot;:165.6468503937008,&quot;left&quot;:62.50314960629921,&quot;top&quot;:242.07188976377952,&quot;width&quot;:1027.5937007874018}"/>
</p:tagLst>
</file>

<file path=ppt/tags/tag3.xml><?xml version="1.0" encoding="utf-8"?>
<p:tagLst xmlns:p="http://schemas.openxmlformats.org/presentationml/2006/main">
  <p:tag name="KSO_WM_DIAGRAM_VIRTUALLY_FRAME" val="{&quot;height&quot;:165.6468503937008,&quot;left&quot;:62.50314960629921,&quot;top&quot;:242.07188976377952,&quot;width&quot;:1027.5937007874018}"/>
</p:tagLst>
</file>

<file path=ppt/tags/tag4.xml><?xml version="1.0" encoding="utf-8"?>
<p:tagLst xmlns:p="http://schemas.openxmlformats.org/presentationml/2006/main">
  <p:tag name="KSO_WM_DIAGRAM_VIRTUALLY_FRAME" val="{&quot;height&quot;:165.6468503937008,&quot;left&quot;:62.50314960629921,&quot;top&quot;:242.07188976377952,&quot;width&quot;:1027.5937007874018}"/>
</p:tagLst>
</file>

<file path=ppt/tags/tag5.xml><?xml version="1.0" encoding="utf-8"?>
<p:tagLst xmlns:p="http://schemas.openxmlformats.org/presentationml/2006/main">
  <p:tag name="KSO_WM_DIAGRAM_VIRTUALLY_FRAME" val="{&quot;height&quot;:384.0000000000001,&quot;left&quot;:61.14377952755906,&quot;top&quot;:152.94377952755906,&quot;width&quot;:1029.712440944882}"/>
</p:tagLst>
</file>

<file path=ppt/tags/tag6.xml><?xml version="1.0" encoding="utf-8"?>
<p:tagLst xmlns:p="http://schemas.openxmlformats.org/presentationml/2006/main">
  <p:tag name="KSO_WM_DIAGRAM_VIRTUALLY_FRAME" val="{&quot;height&quot;:384.0000000000001,&quot;left&quot;:61.14377952755906,&quot;top&quot;:152.94377952755906,&quot;width&quot;:1029.712440944882}"/>
</p:tagLst>
</file>

<file path=ppt/tags/tag7.xml><?xml version="1.0" encoding="utf-8"?>
<p:tagLst xmlns:p="http://schemas.openxmlformats.org/presentationml/2006/main">
  <p:tag name="KSO_WM_DIAGRAM_VIRTUALLY_FRAME" val="{&quot;height&quot;:384.0000000000001,&quot;left&quot;:61.14377952755906,&quot;top&quot;:152.94377952755906,&quot;width&quot;:1029.712440944882}"/>
</p:tagLst>
</file>

<file path=ppt/tags/tag8.xml><?xml version="1.0" encoding="utf-8"?>
<p:tagLst xmlns:p="http://schemas.openxmlformats.org/presentationml/2006/main">
  <p:tag name="KSO_WM_DIAGRAM_VIRTUALLY_FRAME" val="{&quot;height&quot;:384.0000000000001,&quot;left&quot;:61.14377952755906,&quot;top&quot;:152.94377952755906,&quot;width&quot;:1029.712440944882}"/>
</p:tagLst>
</file>

<file path=ppt/tags/tag9.xml><?xml version="1.0" encoding="utf-8"?>
<p:tagLst xmlns:p="http://schemas.openxmlformats.org/presentationml/2006/main">
  <p:tag name="KSO_WM_DIAGRAM_VIRTUALLY_FRAME" val="{&quot;height&quot;:384.0000000000001,&quot;left&quot;:61.14377952755906,&quot;top&quot;:152.94377952755906,&quot;width&quot;:1029.712440944882}"/>
</p:tagLst>
</file>

<file path=ppt/tags/tag10.xml><?xml version="1.0" encoding="utf-8"?>
<p:tagLst xmlns:p="http://schemas.openxmlformats.org/presentationml/2006/main">
  <p:tag name="KSO_WM_DIAGRAM_VIRTUALLY_FRAME" val="{&quot;height&quot;:384.0000000000001,&quot;left&quot;:61.14377952755906,&quot;top&quot;:152.94377952755906,&quot;width&quot;:1029.712440944882}"/>
</p:tagLst>
</file>

<file path=ppt/tags/tag11.xml><?xml version="1.0" encoding="utf-8"?>
<p:tagLst xmlns:p="http://schemas.openxmlformats.org/presentationml/2006/main">
  <p:tag name="KSO_WM_DIAGRAM_VIRTUALLY_FRAME" val="{&quot;height&quot;:384.0000000000001,&quot;left&quot;:61.14377952755906,&quot;top&quot;:152.94377952755906,&quot;width&quot;:1029.712440944882}"/>
</p:tagLst>
</file>

<file path=ppt/tags/tag12.xml><?xml version="1.0" encoding="utf-8"?>
<p:tagLst xmlns:p="http://schemas.openxmlformats.org/presentationml/2006/main">
  <p:tag name="KSO_WM_DIAGRAM_VIRTUALLY_FRAME" val="{&quot;height&quot;:384.0000000000001,&quot;left&quot;:61.14377952755906,&quot;top&quot;:152.94377952755906,&quot;width&quot;:1029.712440944882}"/>
</p:tagLst>
</file>

<file path=ppt/tags/tag13.xml><?xml version="1.0" encoding="utf-8"?>
<p:tagLst xmlns:p="http://schemas.openxmlformats.org/presentationml/2006/main">
  <p:tag name="KSO_WM_DIAGRAM_VIRTUALLY_FRAME" val="{&quot;height&quot;:384.0000000000001,&quot;left&quot;:61.14377952755906,&quot;top&quot;:152.94377952755906,&quot;width&quot;:1029.712440944882}"/>
</p:tagLst>
</file>

<file path=ppt/tags/tag14.xml><?xml version="1.0" encoding="utf-8"?>
<p:tagLst xmlns:p="http://schemas.openxmlformats.org/presentationml/2006/main">
  <p:tag name="KSO_WM_DIAGRAM_VIRTUALLY_FRAME" val="{&quot;height&quot;:384.0000000000001,&quot;left&quot;:61.14377952755906,&quot;top&quot;:152.94377952755906,&quot;width&quot;:1029.712440944882}"/>
</p:tagLst>
</file>

<file path=ppt/tags/tag15.xml><?xml version="1.0" encoding="utf-8"?>
<p:tagLst xmlns:p="http://schemas.openxmlformats.org/presentationml/2006/main">
  <p:tag name="KSO_WM_DIAGRAM_VIRTUALLY_FRAME" val="{&quot;height&quot;:384.0000000000001,&quot;left&quot;:61.14377952755906,&quot;top&quot;:152.94377952755906,&quot;width&quot;:1029.712440944882}"/>
</p:tagLst>
</file>

<file path=ppt/tags/tag16.xml><?xml version="1.0" encoding="utf-8"?>
<p:tagLst xmlns:p="http://schemas.openxmlformats.org/presentationml/2006/main">
  <p:tag name="KSO_WM_DIAGRAM_VIRTUALLY_FRAME" val="{&quot;height&quot;:384.0000000000001,&quot;left&quot;:61.14377952755906,&quot;top&quot;:152.94377952755906,&quot;width&quot;:1029.712440944882}"/>
</p:tagLst>
</file>

<file path=ppt/tags/tag17.xml><?xml version="1.0" encoding="utf-8"?>
<p:tagLst xmlns:p="http://schemas.openxmlformats.org/presentationml/2006/main">
  <p:tag name="KSO_WM_DIAGRAM_VIRTUALLY_FRAME" val="{&quot;height&quot;:384.0000000000001,&quot;left&quot;:61.14377952755906,&quot;top&quot;:152.94377952755906,&quot;width&quot;:1029.712440944882}"/>
</p:tagLst>
</file>

<file path=ppt/tags/tag18.xml><?xml version="1.0" encoding="utf-8"?>
<p:tagLst xmlns:p="http://schemas.openxmlformats.org/presentationml/2006/main">
  <p:tag name="KSO_WM_DIAGRAM_VIRTUALLY_FRAME" val="{&quot;height&quot;:384.0000000000001,&quot;left&quot;:61.14377952755906,&quot;top&quot;:152.94377952755906,&quot;width&quot;:1029.712440944882}"/>
</p:tagLst>
</file>

<file path=ppt/tags/tag19.xml><?xml version="1.0" encoding="utf-8"?>
<p:tagLst xmlns:p="http://schemas.openxmlformats.org/presentationml/2006/main">
  <p:tag name="KSO_WM_DIAGRAM_VIRTUALLY_FRAME" val="{&quot;height&quot;:384.0000000000001,&quot;left&quot;:61.14377952755906,&quot;top&quot;:152.94377952755906,&quot;width&quot;:1029.712440944882}"/>
</p:tagLst>
</file>

<file path=ppt/tags/tag20.xml><?xml version="1.0" encoding="utf-8"?>
<p:tagLst xmlns:p="http://schemas.openxmlformats.org/presentationml/2006/main">
  <p:tag name="KSO_WM_DIAGRAM_VIRTUALLY_FRAME" val="{&quot;height&quot;:384.0000000000001,&quot;left&quot;:61.14377952755906,&quot;top&quot;:152.94377952755906,&quot;width&quot;:1029.712440944882}"/>
</p:tagLst>
</file>

<file path=ppt/tags/tag21.xml><?xml version="1.0" encoding="utf-8"?>
<p:tagLst xmlns:p="http://schemas.openxmlformats.org/presentationml/2006/main">
  <p:tag name="KSO_WM_DIAGRAM_VIRTUALLY_FRAME" val="{&quot;height&quot;:384.0000000000001,&quot;left&quot;:61.14377952755906,&quot;top&quot;:152.94377952755906,&quot;width&quot;:1029.712440944882}"/>
</p:tagLst>
</file>

<file path=ppt/tags/tag22.xml><?xml version="1.0" encoding="utf-8"?>
<p:tagLst xmlns:p="http://schemas.openxmlformats.org/presentationml/2006/main">
  <p:tag name="KSO_WM_DIAGRAM_VIRTUALLY_FRAME" val="{&quot;height&quot;:384.0000000000001,&quot;left&quot;:61.14377952755906,&quot;top&quot;:152.94377952755906,&quot;width&quot;:1029.712440944882}"/>
</p:tagLst>
</file>

<file path=ppt/tags/tag23.xml><?xml version="1.0" encoding="utf-8"?>
<p:tagLst xmlns:p="http://schemas.openxmlformats.org/presentationml/2006/main">
  <p:tag name="KSO_WM_DIAGRAM_VIRTUALLY_FRAME" val="{&quot;height&quot;:384.0000000000001,&quot;left&quot;:61.14377952755906,&quot;top&quot;:152.94377952755906,&quot;width&quot;:1029.712440944882}"/>
</p:tagLst>
</file>

<file path=ppt/tags/tag24.xml><?xml version="1.0" encoding="utf-8"?>
<p:tagLst xmlns:p="http://schemas.openxmlformats.org/presentationml/2006/main">
  <p:tag name="KSO_WM_DIAGRAM_VIRTUALLY_FRAME" val="{&quot;height&quot;:384.0000000000001,&quot;left&quot;:61.14377952755906,&quot;top&quot;:152.94377952755906,&quot;width&quot;:1029.712440944882}"/>
</p:tagLst>
</file>

<file path=ppt/tags/tag25.xml><?xml version="1.0" encoding="utf-8"?>
<p:tagLst xmlns:p="http://schemas.openxmlformats.org/presentationml/2006/main">
  <p:tag name="KSO_WM_DIAGRAM_VIRTUALLY_FRAME" val="{&quot;height&quot;:275.1094488188976,&quot;left&quot;:52.31874015748032,&quot;top&quot;:177.2187401574803,&quot;width&quot;:1007.0531496062991}"/>
</p:tagLst>
</file>

<file path=ppt/tags/tag26.xml><?xml version="1.0" encoding="utf-8"?>
<p:tagLst xmlns:p="http://schemas.openxmlformats.org/presentationml/2006/main">
  <p:tag name="KSO_WM_DIAGRAM_VIRTUALLY_FRAME" val="{&quot;height&quot;:275.1094488188976,&quot;left&quot;:52.31874015748032,&quot;top&quot;:177.2187401574803,&quot;width&quot;:1007.0531496062991}"/>
</p:tagLst>
</file>

<file path=ppt/tags/tag27.xml><?xml version="1.0" encoding="utf-8"?>
<p:tagLst xmlns:p="http://schemas.openxmlformats.org/presentationml/2006/main">
  <p:tag name="KSO_WM_DIAGRAM_VIRTUALLY_FRAME" val="{&quot;height&quot;:275.1094488188976,&quot;left&quot;:52.31874015748032,&quot;top&quot;:177.2187401574803,&quot;width&quot;:1007.0531496062991}"/>
</p:tagLst>
</file>

<file path=ppt/tags/tag28.xml><?xml version="1.0" encoding="utf-8"?>
<p:tagLst xmlns:p="http://schemas.openxmlformats.org/presentationml/2006/main">
  <p:tag name="KSO_WM_DIAGRAM_VIRTUALLY_FRAME" val="{&quot;height&quot;:275.1094488188976,&quot;left&quot;:52.31874015748032,&quot;top&quot;:177.2187401574803,&quot;width&quot;:1007.0531496062991}"/>
</p:tagLst>
</file>

<file path=ppt/tags/tag29.xml><?xml version="1.0" encoding="utf-8"?>
<p:tagLst xmlns:p="http://schemas.openxmlformats.org/presentationml/2006/main">
  <p:tag name="KSO_WM_DIAGRAM_VIRTUALLY_FRAME" val="{&quot;height&quot;:275.1094488188976,&quot;left&quot;:52.31874015748032,&quot;top&quot;:177.2187401574803,&quot;width&quot;:1007.0531496062991}"/>
</p:tagLst>
</file>

<file path=ppt/tags/tag30.xml><?xml version="1.0" encoding="utf-8"?>
<p:tagLst xmlns:p="http://schemas.openxmlformats.org/presentationml/2006/main">
  <p:tag name="KSO_WM_DIAGRAM_VIRTUALLY_FRAME" val="{&quot;height&quot;:275.1094488188976,&quot;left&quot;:52.31874015748032,&quot;top&quot;:177.2187401574803,&quot;width&quot;:1007.0531496062991}"/>
</p:tagLst>
</file>

<file path=ppt/tags/tag31.xml><?xml version="1.0" encoding="utf-8"?>
<p:tagLst xmlns:p="http://schemas.openxmlformats.org/presentationml/2006/main">
  <p:tag name="KSO_WM_DIAGRAM_VIRTUALLY_FRAME" val="{&quot;height&quot;:275.1094488188976,&quot;left&quot;:52.31874015748032,&quot;top&quot;:177.2187401574803,&quot;width&quot;:1007.0531496062991}"/>
</p:tagLst>
</file>

<file path=ppt/tags/tag32.xml><?xml version="1.0" encoding="utf-8"?>
<p:tagLst xmlns:p="http://schemas.openxmlformats.org/presentationml/2006/main">
  <p:tag name="KSO_WM_DIAGRAM_VIRTUALLY_FRAME" val="{&quot;height&quot;:275.1094488188976,&quot;left&quot;:52.31874015748032,&quot;top&quot;:177.2187401574803,&quot;width&quot;:1007.0531496062991}"/>
</p:tagLst>
</file>

<file path=ppt/tags/tag33.xml><?xml version="1.0" encoding="utf-8"?>
<p:tagLst xmlns:p="http://schemas.openxmlformats.org/presentationml/2006/main">
  <p:tag name="KSO_WM_DIAGRAM_VIRTUALLY_FRAME" val="{&quot;height&quot;:275.1094488188976,&quot;left&quot;:52.31874015748032,&quot;top&quot;:177.2187401574803,&quot;width&quot;:1007.0531496062991}"/>
</p:tagLst>
</file>

<file path=ppt/tags/tag34.xml><?xml version="1.0" encoding="utf-8"?>
<p:tagLst xmlns:p="http://schemas.openxmlformats.org/presentationml/2006/main">
  <p:tag name="KSO_WM_DIAGRAM_VIRTUALLY_FRAME" val="{&quot;height&quot;:275.1094488188976,&quot;left&quot;:52.31874015748032,&quot;top&quot;:177.2187401574803,&quot;width&quot;:1007.0531496062991}"/>
</p:tagLst>
</file>

<file path=ppt/tags/tag35.xml><?xml version="1.0" encoding="utf-8"?>
<p:tagLst xmlns:p="http://schemas.openxmlformats.org/presentationml/2006/main">
  <p:tag name="KSO_WM_DIAGRAM_VIRTUALLY_FRAME" val="{&quot;height&quot;:275.1094488188976,&quot;left&quot;:52.31874015748032,&quot;top&quot;:177.2187401574803,&quot;width&quot;:1007.0531496062991}"/>
</p:tagLst>
</file>

<file path=ppt/tags/tag36.xml><?xml version="1.0" encoding="utf-8"?>
<p:tagLst xmlns:p="http://schemas.openxmlformats.org/presentationml/2006/main">
  <p:tag name="KSO_WM_DIAGRAM_VIRTUALLY_FRAME" val="{&quot;height&quot;:275.1094488188976,&quot;left&quot;:52.31874015748032,&quot;top&quot;:177.2187401574803,&quot;width&quot;:1007.0531496062991}"/>
</p:tagLst>
</file>

<file path=ppt/tags/tag37.xml><?xml version="1.0" encoding="utf-8"?>
<p:tagLst xmlns:p="http://schemas.openxmlformats.org/presentationml/2006/main">
  <p:tag name="KSO_WM_DIAGRAM_VIRTUALLY_FRAME" val="{&quot;height&quot;:275.1094488188976,&quot;left&quot;:52.31874015748032,&quot;top&quot;:177.2187401574803,&quot;width&quot;:1007.0531496062991}"/>
</p:tagLst>
</file>

<file path=ppt/tags/tag38.xml><?xml version="1.0" encoding="utf-8"?>
<p:tagLst xmlns:p="http://schemas.openxmlformats.org/presentationml/2006/main">
  <p:tag name="KSO_WM_DIAGRAM_VIRTUALLY_FRAME" val="{&quot;height&quot;:275.1094488188976,&quot;left&quot;:52.31874015748032,&quot;top&quot;:177.2187401574803,&quot;width&quot;:1007.0531496062991}"/>
</p:tagLst>
</file>

<file path=ppt/tags/tag39.xml><?xml version="1.0" encoding="utf-8"?>
<p:tagLst xmlns:p="http://schemas.openxmlformats.org/presentationml/2006/main">
  <p:tag name="KSO_WM_DIAGRAM_VIRTUALLY_FRAME" val="{&quot;height&quot;:275.1094488188976,&quot;left&quot;:52.31874015748032,&quot;top&quot;:177.2187401574803,&quot;width&quot;:1007.0531496062991}"/>
</p:tagLst>
</file>

<file path=ppt/tags/tag40.xml><?xml version="1.0" encoding="utf-8"?>
<p:tagLst xmlns:p="http://schemas.openxmlformats.org/presentationml/2006/main">
  <p:tag name="KSO_WM_DIAGRAM_VIRTUALLY_FRAME" val="{&quot;height&quot;:275.1094488188976,&quot;left&quot;:52.31874015748032,&quot;top&quot;:177.2187401574803,&quot;width&quot;:1007.0531496062991}"/>
</p:tagLst>
</file>

<file path=ppt/tags/tag41.xml><?xml version="1.0" encoding="utf-8"?>
<p:tagLst xmlns:p="http://schemas.openxmlformats.org/presentationml/2006/main">
  <p:tag name="KSO_WM_DIAGRAM_VIRTUALLY_FRAME" val="{&quot;height&quot;:275.1094488188976,&quot;left&quot;:52.31874015748032,&quot;top&quot;:177.2187401574803,&quot;width&quot;:1007.0531496062991}"/>
</p:tagLst>
</file>

<file path=ppt/tags/tag42.xml><?xml version="1.0" encoding="utf-8"?>
<p:tagLst xmlns:p="http://schemas.openxmlformats.org/presentationml/2006/main">
  <p:tag name="KSO_WM_DIAGRAM_VIRTUALLY_FRAME" val="{&quot;height&quot;:275.1094488188976,&quot;left&quot;:52.31874015748032,&quot;top&quot;:177.2187401574803,&quot;width&quot;:1007.0531496062991}"/>
</p:tagLst>
</file>

<file path=ppt/tags/tag43.xml><?xml version="1.0" encoding="utf-8"?>
<p:tagLst xmlns:p="http://schemas.openxmlformats.org/presentationml/2006/main">
  <p:tag name="KSO_WM_DIAGRAM_VIRTUALLY_FRAME" val="{&quot;height&quot;:275.1094488188976,&quot;left&quot;:52.31874015748032,&quot;top&quot;:177.2187401574803,&quot;width&quot;:1007.0531496062991}"/>
</p:tagLst>
</file>

<file path=ppt/tags/tag44.xml><?xml version="1.0" encoding="utf-8"?>
<p:tagLst xmlns:p="http://schemas.openxmlformats.org/presentationml/2006/main">
  <p:tag name="KSO_WM_DIAGRAM_VIRTUALLY_FRAME" val="{&quot;height&quot;:275.1094488188976,&quot;left&quot;:52.31874015748032,&quot;top&quot;:177.2187401574803,&quot;width&quot;:1007.0531496062991}"/>
</p:tagLst>
</file>

<file path=ppt/tags/tag45.xml><?xml version="1.0" encoding="utf-8"?>
<p:tagLst xmlns:p="http://schemas.openxmlformats.org/presentationml/2006/main">
  <p:tag name="KSO_WM_DIAGRAM_VIRTUALLY_FRAME" val="{&quot;height&quot;:275.1094488188976,&quot;left&quot;:52.31874015748032,&quot;top&quot;:177.2187401574803,&quot;width&quot;:1007.0531496062991}"/>
</p:tagLst>
</file>

<file path=ppt/tags/tag46.xml><?xml version="1.0" encoding="utf-8"?>
<p:tagLst xmlns:p="http://schemas.openxmlformats.org/presentationml/2006/main">
  <p:tag name="KSO_WM_DIAGRAM_VIRTUALLY_FRAME" val="{&quot;height&quot;:275.1094488188976,&quot;left&quot;:52.31874015748032,&quot;top&quot;:177.2187401574803,&quot;width&quot;:1007.0531496062991}"/>
</p:tagLst>
</file>

<file path=ppt/tags/tag47.xml><?xml version="1.0" encoding="utf-8"?>
<p:tagLst xmlns:p="http://schemas.openxmlformats.org/presentationml/2006/main">
  <p:tag name="KSO_WM_DIAGRAM_VIRTUALLY_FRAME" val="{&quot;height&quot;:275.1094488188976,&quot;left&quot;:52.31874015748032,&quot;top&quot;:177.2187401574803,&quot;width&quot;:1007.0531496062991}"/>
</p:tagLst>
</file>

<file path=ppt/tags/tag48.xml><?xml version="1.0" encoding="utf-8"?>
<p:tagLst xmlns:p="http://schemas.openxmlformats.org/presentationml/2006/main">
  <p:tag name="KSO_WM_DIAGRAM_VIRTUALLY_FRAME" val="{&quot;height&quot;:275.1094488188976,&quot;left&quot;:52.31874015748032,&quot;top&quot;:177.2187401574803,&quot;width&quot;:1007.0531496062991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3122</Words>
  <Application>WPS Presentation</Application>
  <PresentationFormat>On-screen Show (16:9)</PresentationFormat>
  <Paragraphs>137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9" baseType="lpstr">
      <vt:lpstr>Arial</vt:lpstr>
      <vt:lpstr>SimSun</vt:lpstr>
      <vt:lpstr>Wingdings</vt:lpstr>
      <vt:lpstr>Playfair Display Bold</vt:lpstr>
      <vt:lpstr>Open Sans</vt:lpstr>
      <vt:lpstr>Open Sans</vt:lpstr>
      <vt:lpstr>Open Sans</vt:lpstr>
      <vt:lpstr>Arial Black</vt:lpstr>
      <vt:lpstr>Playfair Display Light</vt:lpstr>
      <vt:lpstr>Playfair Display Light</vt:lpstr>
      <vt:lpstr>Playfair Display Light</vt:lpstr>
      <vt:lpstr>Calibri</vt:lpstr>
      <vt:lpstr>Calibri Light</vt:lpstr>
      <vt:lpstr>Microsoft YaHei</vt:lpstr>
      <vt:lpstr>Arial Unicode MS</vt:lpstr>
      <vt:lpstr>AMGDT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Juno Joyce</cp:lastModifiedBy>
  <cp:revision>4</cp:revision>
  <dcterms:created xsi:type="dcterms:W3CDTF">2026-03-16T06:41:00Z</dcterms:created>
  <dcterms:modified xsi:type="dcterms:W3CDTF">2026-03-16T07:21:39Z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30C5155AD03940BBA42A52B021AD8A9C_13</vt:lpwstr>
  </property>
  <property fmtid="{D5CDD505-2E9C-101B-9397-08002B2CF9AE}" pid="3" name="KSOProductBuildVer">
    <vt:lpwstr>1033-12.2.0.23196</vt:lpwstr>
  </property>
</Properties>
</file>